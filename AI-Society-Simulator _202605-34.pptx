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5" r:id="rId7"/>
    <p:sldId id="264" r:id="rId8"/>
    <p:sldId id="261" r:id="rId9"/>
    <p:sldId id="262" r:id="rId10"/>
    <p:sldId id="263" r:id="rId11"/>
  </p:sldIdLst>
  <p:sldSz cx="9144000" cy="5143500" type="screen16x9"/>
  <p:notesSz cx="5143500" cy="9144000"/>
  <p:embeddedFontLst>
    <p:embeddedFont>
      <p:font typeface="MuseoModerno Medium" panose="020B0604020202020204" charset="0"/>
      <p:regular r:id="rId13"/>
    </p:embeddedFont>
    <p:embeddedFont>
      <p:font typeface="Source Sans 3" panose="020B0604020202020204" charset="0"/>
      <p:regular r:id="rId1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C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09" d="100"/>
          <a:sy n="209" d="100"/>
        </p:scale>
        <p:origin x="216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9866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99406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AI Society Simulator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454994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Exploring governance, labor, and distribution pathways under AI diffusion through multi-agent social interaction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571208"/>
            <a:ext cx="1547565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325F7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14936" y="3623154"/>
            <a:ext cx="219060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FINAL PROJECT PRESENTATION</a:t>
            </a:r>
            <a:endParaRPr lang="en-US" sz="85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2DABC2-3535-96E9-DEA7-EB41904A10A9}"/>
              </a:ext>
            </a:extLst>
          </p:cNvPr>
          <p:cNvSpPr/>
          <p:nvPr/>
        </p:nvSpPr>
        <p:spPr>
          <a:xfrm>
            <a:off x="8028432" y="4841748"/>
            <a:ext cx="1115568" cy="301752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22EAEBF-D3BB-D2CA-C464-3D119FF2278A}"/>
              </a:ext>
            </a:extLst>
          </p:cNvPr>
          <p:cNvSpPr txBox="1"/>
          <p:nvPr/>
        </p:nvSpPr>
        <p:spPr>
          <a:xfrm>
            <a:off x="3867912" y="3959352"/>
            <a:ext cx="1773936" cy="259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850" dirty="0">
                <a:solidFill>
                  <a:srgbClr val="325F7B"/>
                </a:solidFill>
                <a:latin typeface="Source Sans 3" pitchFamily="34" charset="0"/>
              </a:rPr>
              <a:t>Jingzeng Xie</a:t>
            </a:r>
            <a:r>
              <a:rPr lang="zh-CN" altLang="en-US" sz="850" dirty="0">
                <a:solidFill>
                  <a:srgbClr val="325F7B"/>
                </a:solidFill>
                <a:latin typeface="Source Sans 3" pitchFamily="34" charset="0"/>
              </a:rPr>
              <a:t>，</a:t>
            </a:r>
            <a:r>
              <a:rPr lang="en-US" altLang="zh-CN" sz="850" dirty="0">
                <a:solidFill>
                  <a:srgbClr val="325F7B"/>
                </a:solidFill>
                <a:latin typeface="Source Sans 3" pitchFamily="34" charset="0"/>
              </a:rPr>
              <a:t>Yuxi Luo</a:t>
            </a:r>
            <a:r>
              <a:rPr lang="zh-CN" altLang="en-US" sz="850" dirty="0">
                <a:solidFill>
                  <a:srgbClr val="325F7B"/>
                </a:solidFill>
                <a:latin typeface="Source Sans 3" pitchFamily="34" charset="0"/>
              </a:rPr>
              <a:t>，</a:t>
            </a:r>
            <a:r>
              <a:rPr lang="en-US" altLang="zh-CN" sz="850" dirty="0">
                <a:solidFill>
                  <a:srgbClr val="325F7B"/>
                </a:solidFill>
                <a:latin typeface="Source Sans 3" pitchFamily="34" charset="0"/>
              </a:rPr>
              <a:t>Zeyu Du</a:t>
            </a:r>
            <a:endParaRPr lang="zh-CN" altLang="en-US" sz="850" dirty="0">
              <a:solidFill>
                <a:srgbClr val="325F7B"/>
              </a:solidFill>
              <a:latin typeface="Source Sans 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37183"/>
            <a:ext cx="4722763" cy="797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Why Simulate AI Social Transition with Agents?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116437" y="1535981"/>
            <a:ext cx="4531444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After AI boosts productivity, what determines society's trajectory is not the capability of any single model — but how different stakeholders interact.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925119" y="1406798"/>
            <a:ext cx="14288" cy="646212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6" name="Shape 3"/>
          <p:cNvSpPr/>
          <p:nvPr/>
        </p:nvSpPr>
        <p:spPr>
          <a:xfrm>
            <a:off x="3925119" y="2182192"/>
            <a:ext cx="2303934" cy="1498178"/>
          </a:xfrm>
          <a:prstGeom prst="roundRect">
            <a:avLst>
              <a:gd name="adj" fmla="val 1277"/>
            </a:avLst>
          </a:prstGeom>
          <a:solidFill>
            <a:srgbClr val="F3EEE3"/>
          </a:solidFill>
          <a:ln/>
        </p:spPr>
      </p:sp>
      <p:sp>
        <p:nvSpPr>
          <p:cNvPr id="7" name="Text 4"/>
          <p:cNvSpPr/>
          <p:nvPr/>
        </p:nvSpPr>
        <p:spPr>
          <a:xfrm>
            <a:off x="4052664" y="2309738"/>
            <a:ext cx="2048842" cy="39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Static Parameters → Dynamic Actors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052664" y="2777133"/>
            <a:ext cx="2048842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Workers care about jobs, skills, bargaining power, and distribution. Employers focus on efficiency, ROI, and compliance costs.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343873" y="2182192"/>
            <a:ext cx="2304008" cy="1498178"/>
          </a:xfrm>
          <a:prstGeom prst="roundRect">
            <a:avLst>
              <a:gd name="adj" fmla="val 1277"/>
            </a:avLst>
          </a:prstGeom>
          <a:solidFill>
            <a:srgbClr val="F3EEE3"/>
          </a:solidFill>
          <a:ln/>
        </p:spPr>
      </p:sp>
      <p:sp>
        <p:nvSpPr>
          <p:cNvPr id="10" name="Text 7"/>
          <p:cNvSpPr/>
          <p:nvPr/>
        </p:nvSpPr>
        <p:spPr>
          <a:xfrm>
            <a:off x="6471419" y="2309738"/>
            <a:ext cx="2048917" cy="39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Exogenous Narrative → Forum + Proposals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71419" y="2777133"/>
            <a:ext cx="2048917" cy="58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Agents engage through open discussion, cross-role deal proposals, and coalition-building in real time.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925119" y="3795192"/>
            <a:ext cx="4722763" cy="911051"/>
          </a:xfrm>
          <a:prstGeom prst="roundRect">
            <a:avLst>
              <a:gd name="adj" fmla="val 2101"/>
            </a:avLst>
          </a:prstGeom>
          <a:solidFill>
            <a:srgbClr val="F3EEE3"/>
          </a:solidFill>
          <a:ln/>
        </p:spPr>
      </p:sp>
      <p:sp>
        <p:nvSpPr>
          <p:cNvPr id="13" name="Text 10"/>
          <p:cNvSpPr/>
          <p:nvPr/>
        </p:nvSpPr>
        <p:spPr>
          <a:xfrm>
            <a:off x="4052664" y="3922737"/>
            <a:ext cx="3144217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One-way Update → Action </a:t>
            </a:r>
            <a:r>
              <a:rPr lang="en-US" sz="1250" dirty="0">
                <a:solidFill>
                  <a:srgbClr val="00000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↔</a:t>
            </a:r>
            <a:r>
              <a:rPr lang="en-US" sz="12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State Loop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052664" y="4190851"/>
            <a:ext cx="4467671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Government, media, unions, and academics co-shape institutional trust. Actions influence state; state influences actions.</a:t>
            </a:r>
            <a:endParaRPr lang="en-US" sz="10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D73125D-B0AD-3D8E-F526-1666FBFBD688}"/>
              </a:ext>
            </a:extLst>
          </p:cNvPr>
          <p:cNvSpPr/>
          <p:nvPr/>
        </p:nvSpPr>
        <p:spPr>
          <a:xfrm>
            <a:off x="8028432" y="4841748"/>
            <a:ext cx="1115568" cy="301752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97322"/>
            <a:ext cx="7828136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System Architecture: Agent-Driven Annual Feedback Loop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325" y="1133103"/>
            <a:ext cx="6521351" cy="2984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88233" y="1525790"/>
            <a:ext cx="1442583" cy="180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World &amp; Output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088233" y="1757405"/>
            <a:ext cx="1590047" cy="259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9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Tech growth, updates, history and summary files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484792" y="2506746"/>
            <a:ext cx="1442583" cy="180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Forum Layer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465557" y="2738361"/>
            <a:ext cx="1461817" cy="259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00"/>
              </a:lnSpc>
              <a:buNone/>
            </a:pPr>
            <a:r>
              <a:rPr lang="en-US" sz="9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Public posts, replies, cross-role proposals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088233" y="3013253"/>
            <a:ext cx="1442583" cy="180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Agent Layer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88233" y="3244868"/>
            <a:ext cx="1590047" cy="259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9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15 heterogeneous roles with memory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96119" y="4219575"/>
            <a:ext cx="8151763" cy="326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Within each year, the key sequence is fixed: technology changes enter the news first, agents then discuss and propose based on the latest state, and the world state is updated and recorded accordingly.</a:t>
            </a:r>
            <a:endParaRPr lang="en-US" sz="85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31D0444-20A0-64DA-A5E8-23A051D26481}"/>
              </a:ext>
            </a:extLst>
          </p:cNvPr>
          <p:cNvSpPr/>
          <p:nvPr/>
        </p:nvSpPr>
        <p:spPr>
          <a:xfrm>
            <a:off x="8028432" y="4841748"/>
            <a:ext cx="1115568" cy="301752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0903"/>
            <a:ext cx="8151763" cy="797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Agent Design: Heterogeneous Roles + Goal-Driven Behavior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467966"/>
            <a:ext cx="8151763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agent is not a simple label — it is defined by four core elements: </a:t>
            </a:r>
            <a:r>
              <a:rPr lang="en-US" sz="100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Role</a:t>
            </a: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(social identity), </a:t>
            </a:r>
            <a:r>
              <a:rPr lang="en-US" sz="100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Personality</a:t>
            </a: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(behavioral tendency), </a:t>
            </a:r>
            <a:r>
              <a:rPr lang="en-US" sz="100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Goal</a:t>
            </a: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(interest objective), and </a:t>
            </a:r>
            <a:r>
              <a:rPr lang="en-US" sz="100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Memory</a:t>
            </a: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(short-term context).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114178"/>
            <a:ext cx="255166" cy="2551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4755" y="2158008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Discuss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94755" y="2472110"/>
            <a:ext cx="3521646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Speak based on world state and forum context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895674"/>
            <a:ext cx="255166" cy="25516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4755" y="2939504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Propose Deal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894755" y="3253606"/>
            <a:ext cx="3521646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Submit mutually beneficial proposals to other agent categories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677171"/>
            <a:ext cx="255166" cy="25516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94755" y="3721001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Decide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894755" y="4035103"/>
            <a:ext cx="3521646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Form annual strategic actions and write to memory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4732362" y="2114178"/>
            <a:ext cx="1902693" cy="454372"/>
          </a:xfrm>
          <a:prstGeom prst="roundRect">
            <a:avLst>
              <a:gd name="adj" fmla="val 4212"/>
            </a:avLst>
          </a:prstGeom>
          <a:solidFill>
            <a:srgbClr val="F3EEE3"/>
          </a:solidFill>
          <a:ln/>
        </p:spPr>
      </p:sp>
      <p:sp>
        <p:nvSpPr>
          <p:cNvPr id="14" name="Text 9"/>
          <p:cNvSpPr/>
          <p:nvPr/>
        </p:nvSpPr>
        <p:spPr>
          <a:xfrm>
            <a:off x="4859908" y="2241724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👷</a:t>
            </a:r>
            <a:r>
              <a:rPr lang="en-US" sz="12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Workers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749876" y="2114178"/>
            <a:ext cx="1902768" cy="454372"/>
          </a:xfrm>
          <a:prstGeom prst="roundRect">
            <a:avLst>
              <a:gd name="adj" fmla="val 4212"/>
            </a:avLst>
          </a:prstGeom>
          <a:solidFill>
            <a:srgbClr val="F3EEE3"/>
          </a:solidFill>
          <a:ln/>
        </p:spPr>
      </p:sp>
      <p:sp>
        <p:nvSpPr>
          <p:cNvPr id="16" name="Text 11"/>
          <p:cNvSpPr/>
          <p:nvPr/>
        </p:nvSpPr>
        <p:spPr>
          <a:xfrm>
            <a:off x="6877422" y="2241724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🏢</a:t>
            </a:r>
            <a:r>
              <a:rPr lang="en-US" sz="12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Employers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4732362" y="2683371"/>
            <a:ext cx="1902693" cy="454372"/>
          </a:xfrm>
          <a:prstGeom prst="roundRect">
            <a:avLst>
              <a:gd name="adj" fmla="val 4212"/>
            </a:avLst>
          </a:prstGeom>
          <a:solidFill>
            <a:srgbClr val="F3EEE3"/>
          </a:solidFill>
          <a:ln/>
        </p:spPr>
      </p:sp>
      <p:sp>
        <p:nvSpPr>
          <p:cNvPr id="18" name="Text 13"/>
          <p:cNvSpPr/>
          <p:nvPr/>
        </p:nvSpPr>
        <p:spPr>
          <a:xfrm>
            <a:off x="4859908" y="2810917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🏛</a:t>
            </a:r>
            <a:r>
              <a:rPr lang="en-US" sz="12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Politicians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749876" y="2683371"/>
            <a:ext cx="1902768" cy="454372"/>
          </a:xfrm>
          <a:prstGeom prst="roundRect">
            <a:avLst>
              <a:gd name="adj" fmla="val 4212"/>
            </a:avLst>
          </a:prstGeom>
          <a:solidFill>
            <a:srgbClr val="F3EEE3"/>
          </a:solidFill>
          <a:ln/>
        </p:spPr>
      </p:sp>
      <p:sp>
        <p:nvSpPr>
          <p:cNvPr id="20" name="Text 15"/>
          <p:cNvSpPr/>
          <p:nvPr/>
        </p:nvSpPr>
        <p:spPr>
          <a:xfrm>
            <a:off x="6877422" y="2810917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✊</a:t>
            </a:r>
            <a:r>
              <a:rPr lang="en-US" sz="12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Union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732362" y="3252564"/>
            <a:ext cx="1902693" cy="454372"/>
          </a:xfrm>
          <a:prstGeom prst="roundRect">
            <a:avLst>
              <a:gd name="adj" fmla="val 4212"/>
            </a:avLst>
          </a:prstGeom>
          <a:solidFill>
            <a:srgbClr val="F3EEE3"/>
          </a:solidFill>
          <a:ln/>
        </p:spPr>
      </p:sp>
      <p:sp>
        <p:nvSpPr>
          <p:cNvPr id="22" name="Text 17"/>
          <p:cNvSpPr/>
          <p:nvPr/>
        </p:nvSpPr>
        <p:spPr>
          <a:xfrm>
            <a:off x="4859908" y="3380110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🎓</a:t>
            </a:r>
            <a:r>
              <a:rPr lang="en-US" sz="12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Academic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749876" y="3252564"/>
            <a:ext cx="1902768" cy="454372"/>
          </a:xfrm>
          <a:prstGeom prst="roundRect">
            <a:avLst>
              <a:gd name="adj" fmla="val 4212"/>
            </a:avLst>
          </a:prstGeom>
          <a:solidFill>
            <a:srgbClr val="F3EEE3"/>
          </a:solidFill>
          <a:ln/>
        </p:spPr>
      </p:sp>
      <p:sp>
        <p:nvSpPr>
          <p:cNvPr id="24" name="Text 19"/>
          <p:cNvSpPr/>
          <p:nvPr/>
        </p:nvSpPr>
        <p:spPr>
          <a:xfrm>
            <a:off x="6877422" y="3380110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💰</a:t>
            </a:r>
            <a:r>
              <a:rPr lang="en-US" sz="12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Investor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4732362" y="3821757"/>
            <a:ext cx="3920282" cy="454372"/>
          </a:xfrm>
          <a:prstGeom prst="roundRect">
            <a:avLst>
              <a:gd name="adj" fmla="val 4212"/>
            </a:avLst>
          </a:prstGeom>
          <a:solidFill>
            <a:srgbClr val="F3EEE3"/>
          </a:solidFill>
          <a:ln/>
        </p:spPr>
      </p:sp>
      <p:sp>
        <p:nvSpPr>
          <p:cNvPr id="26" name="Text 21"/>
          <p:cNvSpPr/>
          <p:nvPr/>
        </p:nvSpPr>
        <p:spPr>
          <a:xfrm>
            <a:off x="4859908" y="3949303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📰</a:t>
            </a:r>
            <a:r>
              <a:rPr lang="en-US" sz="12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Journalist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4732362" y="4405313"/>
            <a:ext cx="3920282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 social force categories across 15 heterogeneous agent instances</a:t>
            </a:r>
            <a:endParaRPr lang="en-US" sz="1000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9B97ACD-86C6-60BD-E2E6-6E10110DE917}"/>
              </a:ext>
            </a:extLst>
          </p:cNvPr>
          <p:cNvSpPr/>
          <p:nvPr/>
        </p:nvSpPr>
        <p:spPr>
          <a:xfrm>
            <a:off x="8028432" y="4841748"/>
            <a:ext cx="1115568" cy="301752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3577"/>
            <a:ext cx="6091089" cy="287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Simulation Loop: How Do Agents Change World State?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31292"/>
            <a:ext cx="460697" cy="5528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6645" y="1023417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Tech Update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16645" y="1203275"/>
            <a:ext cx="7631237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capability &amp; productivity grow endogenously</a:t>
            </a:r>
            <a:endParaRPr lang="en-US" sz="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1484114"/>
            <a:ext cx="460697" cy="55282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16645" y="1576239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Public News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016645" y="1756097"/>
            <a:ext cx="7631237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Tech changes enter forum context as news</a:t>
            </a:r>
            <a:endParaRPr lang="en-US" sz="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036936"/>
            <a:ext cx="460697" cy="55282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16645" y="2129061"/>
            <a:ext cx="1289224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Multi-round Discussion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1016645" y="2308920"/>
            <a:ext cx="7631237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Random sampling across agent categories</a:t>
            </a:r>
            <a:endParaRPr lang="en-US" sz="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2589758"/>
            <a:ext cx="460697" cy="55282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16645" y="2681883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Cross-role Proposals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1016645" y="2861742"/>
            <a:ext cx="7631237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Coalitions, negotiations, interest exchanges</a:t>
            </a:r>
            <a:endParaRPr lang="en-US" sz="7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3142580"/>
            <a:ext cx="460697" cy="55282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16645" y="3234705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Annual Decision</a:t>
            </a:r>
            <a:endParaRPr lang="en-US" sz="900" dirty="0"/>
          </a:p>
        </p:txBody>
      </p:sp>
      <p:sp>
        <p:nvSpPr>
          <p:cNvPr id="17" name="Text 10"/>
          <p:cNvSpPr/>
          <p:nvPr/>
        </p:nvSpPr>
        <p:spPr>
          <a:xfrm>
            <a:off x="1016645" y="3414564"/>
            <a:ext cx="7631237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agent outputs concrete actions</a:t>
            </a:r>
            <a:endParaRPr lang="en-US" sz="7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119" y="3695402"/>
            <a:ext cx="460697" cy="55282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16645" y="3787527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World Update</a:t>
            </a:r>
            <a:endParaRPr lang="en-US" sz="900" dirty="0"/>
          </a:p>
        </p:txBody>
      </p:sp>
      <p:sp>
        <p:nvSpPr>
          <p:cNvPr id="20" name="Text 12"/>
          <p:cNvSpPr/>
          <p:nvPr/>
        </p:nvSpPr>
        <p:spPr>
          <a:xfrm>
            <a:off x="1016645" y="3967386"/>
            <a:ext cx="7631237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LLM + rule constraints update social indicators</a:t>
            </a:r>
            <a:endParaRPr lang="en-US" sz="700" dirty="0"/>
          </a:p>
        </p:txBody>
      </p:sp>
      <p:sp>
        <p:nvSpPr>
          <p:cNvPr id="21" name="Shape 13"/>
          <p:cNvSpPr/>
          <p:nvPr/>
        </p:nvSpPr>
        <p:spPr>
          <a:xfrm>
            <a:off x="496119" y="4315569"/>
            <a:ext cx="8151763" cy="304354"/>
          </a:xfrm>
          <a:prstGeom prst="roundRect">
            <a:avLst>
              <a:gd name="adj" fmla="val 4542"/>
            </a:avLst>
          </a:prstGeom>
          <a:solidFill>
            <a:srgbClr val="B6D6FC"/>
          </a:solidFill>
          <a:ln/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243" y="4435748"/>
            <a:ext cx="115119" cy="92125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95486" y="4398392"/>
            <a:ext cx="7760271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design makes "discussion text" not merely display content — it becomes the evidentiary input driving next year's state changes.</a:t>
            </a:r>
            <a:endParaRPr lang="en-US" sz="70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C682642-674F-1B28-5915-3C6F9DA7C183}"/>
              </a:ext>
            </a:extLst>
          </p:cNvPr>
          <p:cNvSpPr/>
          <p:nvPr/>
        </p:nvSpPr>
        <p:spPr>
          <a:xfrm>
            <a:off x="8028432" y="4841748"/>
            <a:ext cx="1115568" cy="301752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3B004F8-256C-80C6-F99E-38A30A446961}"/>
              </a:ext>
            </a:extLst>
          </p:cNvPr>
          <p:cNvSpPr/>
          <p:nvPr/>
        </p:nvSpPr>
        <p:spPr>
          <a:xfrm>
            <a:off x="8028432" y="4841748"/>
            <a:ext cx="1115568" cy="301752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6" name="Picture 2" descr="用户附件">
            <a:extLst>
              <a:ext uri="{FF2B5EF4-FFF2-40B4-BE49-F238E27FC236}">
                <a16:creationId xmlns:a16="http://schemas.microsoft.com/office/drawing/2014/main" id="{462A9130-DE3B-55C8-3D96-56FE05DDD8F0}"/>
              </a:ext>
            </a:extLst>
          </p:cNvPr>
          <p:cNvPicPr>
            <a:picLocks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73" r="17124" b="10669"/>
          <a:stretch>
            <a:fillRect/>
          </a:stretch>
        </p:blipFill>
        <p:spPr bwMode="auto">
          <a:xfrm>
            <a:off x="2375898" y="35960"/>
            <a:ext cx="4392203" cy="2816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用户附件">
            <a:extLst>
              <a:ext uri="{FF2B5EF4-FFF2-40B4-BE49-F238E27FC236}">
                <a16:creationId xmlns:a16="http://schemas.microsoft.com/office/drawing/2014/main" id="{662E081F-A8AD-455D-061D-2A18EA9DC9BA}"/>
              </a:ext>
            </a:extLst>
          </p:cNvPr>
          <p:cNvPicPr>
            <a:picLocks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562"/>
          <a:stretch>
            <a:fillRect/>
          </a:stretch>
        </p:blipFill>
        <p:spPr bwMode="auto">
          <a:xfrm>
            <a:off x="1923834" y="2933272"/>
            <a:ext cx="5296329" cy="2174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3714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BFA75AB-5735-282A-F393-CCCFD6CE649F}"/>
              </a:ext>
            </a:extLst>
          </p:cNvPr>
          <p:cNvSpPr/>
          <p:nvPr/>
        </p:nvSpPr>
        <p:spPr>
          <a:xfrm>
            <a:off x="8028432" y="4841748"/>
            <a:ext cx="1115568" cy="301752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50" name="Picture 2" descr="用户附件">
            <a:extLst>
              <a:ext uri="{FF2B5EF4-FFF2-40B4-BE49-F238E27FC236}">
                <a16:creationId xmlns:a16="http://schemas.microsoft.com/office/drawing/2014/main" id="{6ED0425B-41D8-D30F-9582-ABC572EFE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39" y="874517"/>
            <a:ext cx="8121721" cy="3470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4483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5797"/>
            <a:ext cx="8151763" cy="797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Output Artifacts: From Agent Logs to Macro Dashboard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84" y="1524595"/>
            <a:ext cx="4137571" cy="3063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09381" y="1551161"/>
            <a:ext cx="1694259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Four Core Output Files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409381" y="1879625"/>
            <a:ext cx="1564184" cy="1373460"/>
          </a:xfrm>
          <a:prstGeom prst="roundRect">
            <a:avLst>
              <a:gd name="adj" fmla="val 4993"/>
            </a:avLst>
          </a:prstGeom>
          <a:solidFill>
            <a:srgbClr val="FFFCF5"/>
          </a:solidFill>
          <a:ln w="14288">
            <a:solidFill>
              <a:srgbClr val="D9D4C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95094" y="1879625"/>
            <a:ext cx="57150" cy="1373460"/>
          </a:xfrm>
          <a:prstGeom prst="roundRect">
            <a:avLst>
              <a:gd name="adj" fmla="val 33488"/>
            </a:avLst>
          </a:prstGeom>
          <a:solidFill>
            <a:srgbClr val="325F7B"/>
          </a:solidFill>
          <a:ln/>
        </p:spPr>
      </p:sp>
      <p:sp>
        <p:nvSpPr>
          <p:cNvPr id="7" name="Text 4"/>
          <p:cNvSpPr/>
          <p:nvPr/>
        </p:nvSpPr>
        <p:spPr>
          <a:xfrm>
            <a:off x="5594077" y="2021458"/>
            <a:ext cx="1237655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forum.json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594077" y="2335560"/>
            <a:ext cx="1237655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Who spoke in which year, replied to whom, and what deal was proposed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088386" y="1879625"/>
            <a:ext cx="1564184" cy="1373460"/>
          </a:xfrm>
          <a:prstGeom prst="roundRect">
            <a:avLst>
              <a:gd name="adj" fmla="val 4993"/>
            </a:avLst>
          </a:prstGeom>
          <a:solidFill>
            <a:srgbClr val="FFFCF5"/>
          </a:solidFill>
          <a:ln w="14288">
            <a:solidFill>
              <a:srgbClr val="D9D4C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74098" y="1879625"/>
            <a:ext cx="57150" cy="1373460"/>
          </a:xfrm>
          <a:prstGeom prst="roundRect">
            <a:avLst>
              <a:gd name="adj" fmla="val 33488"/>
            </a:avLst>
          </a:prstGeom>
          <a:solidFill>
            <a:srgbClr val="325F7B"/>
          </a:solidFill>
          <a:ln/>
        </p:spPr>
      </p:sp>
      <p:sp>
        <p:nvSpPr>
          <p:cNvPr id="11" name="Text 8"/>
          <p:cNvSpPr/>
          <p:nvPr/>
        </p:nvSpPr>
        <p:spPr>
          <a:xfrm>
            <a:off x="7273082" y="2021458"/>
            <a:ext cx="1237655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history.json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273082" y="2335560"/>
            <a:ext cx="1237655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numerical states and institutional narrative fields per year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09381" y="3367906"/>
            <a:ext cx="1564184" cy="1179537"/>
          </a:xfrm>
          <a:prstGeom prst="roundRect">
            <a:avLst>
              <a:gd name="adj" fmla="val 5814"/>
            </a:avLst>
          </a:prstGeom>
          <a:solidFill>
            <a:srgbClr val="FFFCF5"/>
          </a:solidFill>
          <a:ln w="14288">
            <a:solidFill>
              <a:srgbClr val="D9D4C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395094" y="3367906"/>
            <a:ext cx="57150" cy="1179537"/>
          </a:xfrm>
          <a:prstGeom prst="roundRect">
            <a:avLst>
              <a:gd name="adj" fmla="val 33488"/>
            </a:avLst>
          </a:prstGeom>
          <a:solidFill>
            <a:srgbClr val="325F7B"/>
          </a:solidFill>
          <a:ln/>
        </p:spPr>
      </p:sp>
      <p:sp>
        <p:nvSpPr>
          <p:cNvPr id="15" name="Text 12"/>
          <p:cNvSpPr/>
          <p:nvPr/>
        </p:nvSpPr>
        <p:spPr>
          <a:xfrm>
            <a:off x="5594077" y="3509739"/>
            <a:ext cx="1237655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summaries.json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594077" y="3823841"/>
            <a:ext cx="1237655" cy="58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Historian-style natural language summary for each simulation year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088386" y="3367906"/>
            <a:ext cx="1564184" cy="1179537"/>
          </a:xfrm>
          <a:prstGeom prst="roundRect">
            <a:avLst>
              <a:gd name="adj" fmla="val 5814"/>
            </a:avLst>
          </a:prstGeom>
          <a:solidFill>
            <a:srgbClr val="FFFCF5"/>
          </a:solidFill>
          <a:ln w="14288">
            <a:solidFill>
              <a:srgbClr val="D9D4C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074098" y="3367906"/>
            <a:ext cx="57150" cy="1179537"/>
          </a:xfrm>
          <a:prstGeom prst="roundRect">
            <a:avLst>
              <a:gd name="adj" fmla="val 33488"/>
            </a:avLst>
          </a:prstGeom>
          <a:solidFill>
            <a:srgbClr val="325F7B"/>
          </a:solidFill>
          <a:ln/>
        </p:spPr>
      </p:sp>
      <p:sp>
        <p:nvSpPr>
          <p:cNvPr id="19" name="Text 16"/>
          <p:cNvSpPr/>
          <p:nvPr/>
        </p:nvSpPr>
        <p:spPr>
          <a:xfrm>
            <a:off x="7273082" y="3509739"/>
            <a:ext cx="1237655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dashboard.png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7273082" y="3823841"/>
            <a:ext cx="1237655" cy="58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Trend visualization across 12 core social indicators</a:t>
            </a:r>
            <a:endParaRPr lang="en-US" sz="10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80D3392-B5D4-2CBA-58D6-6811A74FCDF6}"/>
              </a:ext>
            </a:extLst>
          </p:cNvPr>
          <p:cNvSpPr/>
          <p:nvPr/>
        </p:nvSpPr>
        <p:spPr>
          <a:xfrm>
            <a:off x="8028432" y="4841748"/>
            <a:ext cx="1115568" cy="301752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29978"/>
            <a:ext cx="7210648" cy="287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Results: This Run Produced a "Cooperative Adaptation" Pathway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02829" y="1553840"/>
            <a:ext cx="2624956" cy="304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0.1→0.90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1939379" y="1948830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AI Capability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96119" y="2128689"/>
            <a:ext cx="4038451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Continuous rise over simulation period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16141" y="1553840"/>
            <a:ext cx="2624956" cy="304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1→2.45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6052691" y="1948830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Total Productivity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09430" y="2128689"/>
            <a:ext cx="4038451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Significant expansion in output capacity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202829" y="2416076"/>
            <a:ext cx="2624956" cy="304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0.38→0.09</a:t>
            </a:r>
            <a:endParaRPr lang="en-US" sz="2350" dirty="0"/>
          </a:p>
        </p:txBody>
      </p:sp>
      <p:sp>
        <p:nvSpPr>
          <p:cNvPr id="10" name="Text 8"/>
          <p:cNvSpPr/>
          <p:nvPr/>
        </p:nvSpPr>
        <p:spPr>
          <a:xfrm>
            <a:off x="1939379" y="2811066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Wealth Inequality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6119" y="2990924"/>
            <a:ext cx="4038451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Gini-style index declined substantially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316141" y="2416076"/>
            <a:ext cx="2624956" cy="304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0.4→0.97</a:t>
            </a:r>
            <a:endParaRPr lang="en-US" sz="2350" dirty="0"/>
          </a:p>
        </p:txBody>
      </p:sp>
      <p:sp>
        <p:nvSpPr>
          <p:cNvPr id="13" name="Text 11"/>
          <p:cNvSpPr/>
          <p:nvPr/>
        </p:nvSpPr>
        <p:spPr>
          <a:xfrm>
            <a:off x="6052691" y="2811066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Cooperation Index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09430" y="2990924"/>
            <a:ext cx="4038451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Cross-agent collaboration surged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96119" y="3239691"/>
            <a:ext cx="1662782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Why the Optimistic Outcome?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6119" y="3443511"/>
            <a:ext cx="3963516" cy="364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Tech growth was co-driven by innovation, corporate investment, cooperation, government effectiveness, and social trust. Agent discussions repeatedly converged on </a:t>
            </a:r>
            <a:r>
              <a:rPr lang="en-US" sz="70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upskilling, transparent auditing, worker ownership, and profit sharing</a:t>
            </a:r>
            <a:r>
              <a:rPr lang="en-US" sz="7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689128" y="3239691"/>
            <a:ext cx="1650802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Representative Agent Signals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89128" y="3443511"/>
            <a:ext cx="3963516" cy="549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Journalists demanded public dashboard disclosure</a:t>
            </a:r>
            <a:endParaRPr lang="en-US" sz="7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Unions pushed for worker ownership stakes</a:t>
            </a:r>
            <a:endParaRPr lang="en-US" sz="7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Employers accepted transparent outcome reporting</a:t>
            </a:r>
            <a:endParaRPr lang="en-US" sz="7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Government tied incentives to audit results</a:t>
            </a:r>
            <a:endParaRPr lang="en-US" sz="7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7BDA2AA-E58C-54E4-227E-19980C748C2E}"/>
              </a:ext>
            </a:extLst>
          </p:cNvPr>
          <p:cNvSpPr/>
          <p:nvPr/>
        </p:nvSpPr>
        <p:spPr>
          <a:xfrm>
            <a:off x="8028432" y="4841748"/>
            <a:ext cx="1115568" cy="301752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7480"/>
            <a:ext cx="8151763" cy="753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Limitations &amp; Next Steps: Making the Agent Society Verifiable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1446535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Current Limitations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288" y="1755911"/>
            <a:ext cx="180752" cy="180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7685" y="1749996"/>
            <a:ext cx="3537347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single run cannot represent robust conclusions across diverse initial conditions.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288" y="2328156"/>
            <a:ext cx="180752" cy="1807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87685" y="2322240"/>
            <a:ext cx="3537347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World updates still rely on LLM judgment without external empirical calibration.</a:t>
            </a:r>
            <a:endParaRPr lang="en-US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288" y="2900400"/>
            <a:ext cx="180752" cy="1807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87685" y="2894484"/>
            <a:ext cx="3537347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Agent social network structure and long-term memory remain relatively simplified.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4723730" y="1446535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Next Steps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8900" y="1755911"/>
            <a:ext cx="180752" cy="18075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115297" y="1749996"/>
            <a:ext cx="3537347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Monte Carlo multi-run experiments and sensitivity analysis across parameter space.</a:t>
            </a:r>
            <a:endParaRPr lang="en-US" sz="9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8900" y="2328156"/>
            <a:ext cx="180752" cy="18075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115297" y="2322240"/>
            <a:ext cx="3537347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 agent social networks, long-term memory, and reputation mechanisms.</a:t>
            </a:r>
            <a:endParaRPr lang="en-US" sz="9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8900" y="2900400"/>
            <a:ext cx="180752" cy="18075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115297" y="2894484"/>
            <a:ext cx="3537347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Compare optimistic / pessimistic / high-regulation / low-regulation scenarios.</a:t>
            </a:r>
            <a:endParaRPr lang="en-US" sz="9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8900" y="3472644"/>
            <a:ext cx="180752" cy="180752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115297" y="3466728"/>
            <a:ext cx="3537347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 an interactive Web UI for parameter tuning and agent trajectory inspection.</a:t>
            </a:r>
            <a:endParaRPr lang="en-US" sz="9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BD41425-798B-FE6E-9F09-4B183F6E3B47}"/>
              </a:ext>
            </a:extLst>
          </p:cNvPr>
          <p:cNvSpPr/>
          <p:nvPr/>
        </p:nvSpPr>
        <p:spPr>
          <a:xfrm>
            <a:off x="8028432" y="4841748"/>
            <a:ext cx="1115568" cy="301752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670</Words>
  <Application>Microsoft Office PowerPoint</Application>
  <PresentationFormat>全屏显示(16:9)</PresentationFormat>
  <Paragraphs>98</Paragraphs>
  <Slides>10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Source Sans 3</vt:lpstr>
      <vt:lpstr>MuseoModerno Medium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Zeyu DU</cp:lastModifiedBy>
  <cp:revision>2</cp:revision>
  <dcterms:created xsi:type="dcterms:W3CDTF">2026-05-05T11:09:57Z</dcterms:created>
  <dcterms:modified xsi:type="dcterms:W3CDTF">2026-05-05T11:32:50Z</dcterms:modified>
</cp:coreProperties>
</file>